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700"/>
                </a:solidFill>
              </a:rPr>
              <a:t>Flappy Bird com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C8FF"/>
                </a:solidFill>
              </a:rPr>
              <a:t>Neuroevolução com Redes Neurais e Algoritmos Genéticos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1127455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Trabalho Grau B — Inteligência Artificial  |  UNISINOS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0E0"/>
                </a:solidFill>
              </a:rPr>
              <a:t>[Nome Integrante 1]  •  [Nome Integrante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71600"/>
            <a:ext cx="2743200" cy="365760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5603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</a:rPr>
              <a:t>[ Screenshot
do Jogo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t/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>• Flappy Bird: jogo simples com regra clara — desviar dos canos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>• Estado inicial:  pássaro ao centro, canos se aproximando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>• Ação possível:  bater asas (ou não) a cada frame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>• Estado final (falha):  colisão com cano ou chão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1" i="0">
                <a:solidFill>
                  <a:srgbClr val="00C8FF"/>
                </a:solidFill>
              </a:rPr>
              <a:t>Objetivo: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E0E0E0"/>
                </a:solidFill>
              </a:rPr>
              <a:t>• Treinar um agente computacional capaz de jogar sem intervenção humana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280160"/>
            <a:ext cx="402336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Diagrama:
Pássaro + Gap + Canos
Seta: bater asas / não bater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0A0"/>
                </a:solidFill>
              </a:rPr>
              <a:t>Nota: o agente aprende sozinho — nenhuma regra foi programada.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Trabalhos Relacionados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8FF"/>
                </a:solidFill>
              </a:rPr>
              <a:t>Stanley &amp; Miikkulainen (2002)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E0E0E0"/>
                </a:solidFill>
              </a:rPr>
              <a:t>"Evolving Neural Networks through Augmenting Topologies"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Propõe o algoritmo NEAT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Evolução simultânea de pesos E topologia da rede neural via AG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Referência fundamental da área de neuroevolução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A0A0A0"/>
                </a:solidFill>
              </a:rPr>
              <a:t>Evolutionary Computation, MIT Press, v.10, n.2, 2002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8FF"/>
                </a:solidFill>
              </a:rPr>
              <a:t>Tai et al. (2019)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E0E0E0"/>
                </a:solidFill>
              </a:rPr>
              <a:t>"Reinforcement Learning and Neuroevolution in Flappy Bird Game"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Compara Q-Learning com Neuroevolução no Flappy Bird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Usa população de N redes com seleção, crossover e mutação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E0E0E0"/>
                </a:solidFill>
              </a:rPr>
              <a:t>• Estrutura muito similar ao nosso projeto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A0A0A0"/>
                </a:solidFill>
              </a:rPr>
              <a:t>Intelligent Systems and Applications, Springer,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Como Nosso Trabalho se Relaciona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00400" cy="502920"/>
          </a:xfrm>
          <a:prstGeom prst="rect">
            <a:avLst/>
          </a:prstGeom>
          <a:solidFill>
            <a:srgbClr val="005F9E"/>
          </a:solidFill>
          <a:ln>
            <a:solidFill>
              <a:srgbClr val="00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5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Aspecto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234440"/>
            <a:ext cx="3840480" cy="502920"/>
          </a:xfrm>
          <a:prstGeom prst="rect">
            <a:avLst/>
          </a:prstGeom>
          <a:solidFill>
            <a:srgbClr val="005F9E"/>
          </a:solidFill>
          <a:ln>
            <a:solidFill>
              <a:srgbClr val="00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2852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Tai et 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234440"/>
            <a:ext cx="3931920" cy="502920"/>
          </a:xfrm>
          <a:prstGeom prst="rect">
            <a:avLst/>
          </a:prstGeom>
          <a:solidFill>
            <a:srgbClr val="005F9E"/>
          </a:solidFill>
          <a:ln>
            <a:solidFill>
              <a:srgbClr val="00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285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Nosso Trabalho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20040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88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Jogo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737360"/>
            <a:ext cx="384048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178816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Flappy Bird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737360"/>
            <a:ext cx="393192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1788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Flappy Bird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320040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291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Técnica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240280"/>
            <a:ext cx="384048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229108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Neuroevolução + Q-Learning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240280"/>
            <a:ext cx="393192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2291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FF8D"/>
                </a:solidFill>
              </a:rPr>
              <a:t>Neuroevolução (AG puro)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320040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794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Topologia da rede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743200"/>
            <a:ext cx="384048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79400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Variável (NEAT)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743200"/>
            <a:ext cx="393192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2794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FF8D"/>
                </a:solidFill>
              </a:rPr>
              <a:t>Fixa (3 → 6 → 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46120"/>
            <a:ext cx="320040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296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Implementação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246120"/>
            <a:ext cx="384048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329692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246120"/>
            <a:ext cx="3931920" cy="502920"/>
          </a:xfrm>
          <a:prstGeom prst="rect">
            <a:avLst/>
          </a:prstGeom>
          <a:solidFill>
            <a:srgbClr val="1A1A2E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6992" y="32969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FF8D"/>
                </a:solidFill>
              </a:rPr>
              <a:t>C# / Unity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49040"/>
            <a:ext cx="320040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7998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Fitness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3749040"/>
            <a:ext cx="384048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3632" y="37998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</a:rPr>
              <a:t>Baseado em pontuação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3749040"/>
            <a:ext cx="3931920" cy="502920"/>
          </a:xfrm>
          <a:prstGeom prst="rect">
            <a:avLst/>
          </a:prstGeom>
          <a:solidFill>
            <a:srgbClr val="121220"/>
          </a:solidFill>
          <a:ln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6992" y="3799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FF8D"/>
                </a:solidFill>
              </a:rPr>
              <a:t>Tempo de sobrevivência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Nosso diferencial: implementação completa do zero em Unity — sem bibliotecas de ML externas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Ferramentas e 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C8FF"/>
                </a:solidFill>
              </a:rPr>
              <a:t>Motor de jogo:  </a:t>
            </a:r>
            <a:r>
              <a:rPr sz="1600">
                <a:solidFill>
                  <a:srgbClr val="E0E0E0"/>
                </a:solidFill>
              </a:rPr>
              <a:t>Unity 2D (URP)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C8FF"/>
                </a:solidFill>
              </a:rPr>
              <a:t>Linguagem:  </a:t>
            </a:r>
            <a:r>
              <a:rPr sz="1600">
                <a:solidFill>
                  <a:srgbClr val="E0E0E0"/>
                </a:solidFill>
              </a:rPr>
              <a:t>C#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C8FF"/>
                </a:solidFill>
              </a:rPr>
              <a:t>Bibliotecas de ML:  </a:t>
            </a:r>
            <a:r>
              <a:rPr sz="1600">
                <a:solidFill>
                  <a:srgbClr val="E0E0E0"/>
                </a:solidFill>
              </a:rPr>
              <a:t>Nenhuma — implementação própria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0C8FF"/>
                </a:solidFill>
              </a:rPr>
              <a:t>Módulos principais: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D700"/>
                </a:solidFill>
              </a:rPr>
              <a:t>  • NeuralNetwork.cs  </a:t>
            </a:r>
            <a:r>
              <a:rPr sz="1400">
                <a:solidFill>
                  <a:srgbClr val="E0E0E0"/>
                </a:solidFill>
              </a:rPr>
              <a:t>— cérebro de cada pássaro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D700"/>
                </a:solidFill>
              </a:rPr>
              <a:t>  • GeneticAlgorithm.cs  </a:t>
            </a:r>
            <a:r>
              <a:rPr sz="1400">
                <a:solidFill>
                  <a:srgbClr val="E0E0E0"/>
                </a:solidFill>
              </a:rPr>
              <a:t>— evolução entre gerações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D700"/>
                </a:solidFill>
              </a:rPr>
              <a:t>  • Bird.cs  </a:t>
            </a:r>
            <a:r>
              <a:rPr sz="1400">
                <a:solidFill>
                  <a:srgbClr val="E0E0E0"/>
                </a:solidFill>
              </a:rPr>
              <a:t>— agente jogador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D700"/>
                </a:solidFill>
              </a:rPr>
              <a:t>  • GameManager.cs  </a:t>
            </a:r>
            <a:r>
              <a:rPr sz="1400">
                <a:solidFill>
                  <a:srgbClr val="E0E0E0"/>
                </a:solidFill>
              </a:rPr>
              <a:t>— orquestra o jogo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D700"/>
                </a:solidFill>
              </a:rPr>
              <a:t>  • PipeSpawner.cs / Pipe.cs  </a:t>
            </a:r>
            <a:r>
              <a:rPr sz="1400">
                <a:solidFill>
                  <a:srgbClr val="E0E0E0"/>
                </a:solidFill>
              </a:rPr>
              <a:t>— ambiente / canos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Diagrama de blocos:
GameManager → GeneticAlgorithm
GeneticAlgorithm → NeuralNetwork
Bird → NeuralNetwork
PipeSpawner → Pipe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A Rede Neural — Cérebro do Pássaro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00C8FF"/>
                </a:solidFill>
              </a:rPr>
              <a:t>3 Entradas: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E0E0E0"/>
                </a:solidFill>
              </a:rPr>
              <a:t>  • Posição vertical do pássaro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E0E0E0"/>
                </a:solidFill>
              </a:rPr>
              <a:t>  • Distância horizontal ao próximo cano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E0E0E0"/>
                </a:solidFill>
              </a:rPr>
              <a:t>  • Posição vertical do centro do gap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00C8FF"/>
                </a:solidFill>
              </a:rPr>
              <a:t>Camada Oculta: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E0E0E0"/>
                </a:solidFill>
              </a:rPr>
              <a:t>  • 6 neurônios  |  Ativação: tanh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A0A0A0"/>
                </a:solidFill>
              </a:rPr>
              <a:t>  • tanh retorna valores entre -1 e +1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00C8FF"/>
                </a:solidFill>
              </a:rPr>
              <a:t>1 Saída: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6BFF8D"/>
                </a:solidFill>
              </a:rPr>
              <a:t>  • Valor &gt; 0  →  Bater asas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FF6B6B"/>
                </a:solidFill>
              </a:rPr>
              <a:t>  • Valor ≤ 0  →  Não bater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Diagrama da rede neural
3 → 6 → 1
com rótulos nas entradas
e saída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O Algoritmo Genético — Evolução entre Gerações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Inicialização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50 pássaros
com pesos
aleatórios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552" y="24688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Avaliação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Fitness =
tempo de
sobrevivência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4688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Seleção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Top 10%
sobrevivem
intactos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4688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Crossover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Filhos herdam
pesos de
2 pais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24688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Mutação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Variações
aleatórias
(taxa 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4688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371600"/>
            <a:ext cx="173736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Nova Geração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3774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Volta ao
passo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Parâmetros:   População: 50   |   Elitismo: 10%   |   Taxa de mutação: 5%   |   Força de mutação: 0,5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C8FF"/>
                </a:solidFill>
              </a:rPr>
              <a:t>Nenhuma regra foi programada — o comportamento emerge da pressão seletiva.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Resultados — Evolução por Geração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406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Gráfico de linha:
Eixo X = Geração  |  Eixo Y = Melhor Fitness (segundos)
Substituir por gráfico real gerado no Excel
após rodar o projeto por 30+ gerações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C8FF"/>
                </a:solidFill>
              </a:rPr>
              <a:t>Geração 1:
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E0E0E0"/>
                </a:solidFill>
              </a:rPr>
              <a:t>Comportamento aleatório, sobrevivência &lt; 1s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C8FF"/>
                </a:solidFill>
              </a:rPr>
              <a:t>Geração ~5-10:
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E0E0E0"/>
                </a:solidFill>
              </a:rPr>
              <a:t>Pássaros começam a desviar dos primeiros canos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0C8FF"/>
                </a:solidFill>
              </a:rPr>
              <a:t>Geração ~20+:
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E0E0E0"/>
                </a:solidFill>
              </a:rPr>
              <a:t>Agentes voam consistentemente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0A0"/>
                </a:solidFill>
              </a:rPr>
              <a:t>Melhor fitness por geração (tempo de sobrevivência em segundos)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Demo do Protótipo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92608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Screenshot: jogo rodando
com múltiplos pássaros simultâneos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51960"/>
            <a:ext cx="5486400" cy="1463040"/>
          </a:xfrm>
          <a:prstGeom prst="rect">
            <a:avLst/>
          </a:prstGeom>
          <a:solidFill>
            <a:srgbClr val="1A1A2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</a:rPr>
              <a:t>[ Screenshot HUD:
Geração X  |  Vivos: Y  |  Melhor Fitness: Z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0C8FF"/>
                </a:solidFill>
              </a:rPr>
              <a:t>Observações qualitativas: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Geração 1: pássaros caem imediatamente ou batem no teto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Após ~10 gerações: surgem pássaros que desviam 1 ou 2 canos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Comportamento emergente: pássaros aprendem a 'mirar' o centro do gap sem instrução explícita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0A0"/>
                </a:solidFill>
              </a:rPr>
              <a:t>[ Link itch.io — a preencher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Considerações Finais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FF8D"/>
                </a:solidFill>
              </a:rPr>
              <a:t>Pontos Fortes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74552" cy="25400"/>
          </a:xfrm>
          <a:prstGeom prst="rect">
            <a:avLst/>
          </a:prstGeom>
          <a:solidFill>
            <a:srgbClr val="6BF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Implementação completa do zero, sem bibliotecas de ML externas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Convergência visível em poucas gerações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Arquitetura modular e extensível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Aprendizado não supervisionado — nenhuma regra humana codificada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Limitações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74552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Topologia da rede fixa (3→6→1)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Fitness baseado só em tempo — não conta canos passados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Sem critério de parada definido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Melhorias Futuras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127455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Adotar NEAT para evoluir também a topologia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Adicionar velocidade vertical como 4ª entrada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Gráfico de fitness em tempo real no Unity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E0E0E0"/>
                </a:solidFill>
              </a:rPr>
              <a:t>• Comparar com Q-Learning no mesmo ambiente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Referências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0A0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FD700"/>
                </a:solidFill>
              </a:rPr>
              <a:t>1.  </a:t>
            </a:r>
            <a:r>
              <a:rPr sz="1300">
                <a:solidFill>
                  <a:srgbClr val="E0E0E0"/>
                </a:solidFill>
              </a:rPr>
              <a:t>STANLEY, K. O.; MIIKKULAINEN, R. </a:t>
            </a:r>
            <a:r>
              <a:rPr sz="1300" i="1">
                <a:solidFill>
                  <a:srgbClr val="E0E0E0"/>
                </a:solidFill>
              </a:rPr>
              <a:t>Evolving Neural Networks through Augmenting Topologies. </a:t>
            </a:r>
            <a:r>
              <a:rPr sz="1300">
                <a:solidFill>
                  <a:srgbClr val="A0A0A0"/>
                </a:solidFill>
              </a:rPr>
              <a:t>Evolutionary Computation, MIT Press, v. 10, n. 2, p. 99–127, 2002.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FD700"/>
                </a:solidFill>
              </a:rPr>
              <a:t>2.  </a:t>
            </a:r>
            <a:r>
              <a:rPr sz="1300">
                <a:solidFill>
                  <a:srgbClr val="E0E0E0"/>
                </a:solidFill>
              </a:rPr>
              <a:t>TAI, M. et al. </a:t>
            </a:r>
            <a:r>
              <a:rPr sz="1300" i="1">
                <a:solidFill>
                  <a:srgbClr val="E0E0E0"/>
                </a:solidFill>
              </a:rPr>
              <a:t>Reinforcement Learning and Neuroevolution in Flappy Bird Game. </a:t>
            </a:r>
            <a:r>
              <a:rPr sz="1300">
                <a:solidFill>
                  <a:srgbClr val="A0A0A0"/>
                </a:solidFill>
              </a:rPr>
              <a:t>In: Intelligent Systems and Applications, Springer, 2019.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FD700"/>
                </a:solidFill>
              </a:rPr>
              <a:t>3.  </a:t>
            </a:r>
            <a:r>
              <a:rPr sz="1300">
                <a:solidFill>
                  <a:srgbClr val="E0E0E0"/>
                </a:solidFill>
              </a:rPr>
              <a:t>LIAO, C. et al. </a:t>
            </a:r>
            <a:r>
              <a:rPr sz="1300" i="1">
                <a:solidFill>
                  <a:srgbClr val="E0E0E0"/>
                </a:solidFill>
              </a:rPr>
              <a:t>Neuro-Evolution in Flappy Bird Game. </a:t>
            </a:r>
            <a:r>
              <a:rPr sz="1300">
                <a:solidFill>
                  <a:srgbClr val="A0A0A0"/>
                </a:solidFill>
              </a:rPr>
              <a:t>In: IEEE Conference on Computational Intelligence, IEEE Xplore, 2022.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FD700"/>
                </a:solidFill>
              </a:rPr>
              <a:t>4.  </a:t>
            </a:r>
            <a:r>
              <a:rPr sz="1300">
                <a:solidFill>
                  <a:srgbClr val="E0E0E0"/>
                </a:solidFill>
              </a:rPr>
              <a:t>RUSSEL, S.; NORVIG, P. </a:t>
            </a:r>
            <a:r>
              <a:rPr sz="1300" i="1">
                <a:solidFill>
                  <a:srgbClr val="E0E0E0"/>
                </a:solidFill>
              </a:rPr>
              <a:t>Artificial Intelligence: A Modern Approach. </a:t>
            </a:r>
            <a:r>
              <a:rPr sz="1300">
                <a:solidFill>
                  <a:srgbClr val="A0A0A0"/>
                </a:solidFill>
              </a:rPr>
              <a:t>4. ed. Pearson, 2020.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FD700"/>
                </a:solidFill>
              </a:rPr>
              <a:t>5.  </a:t>
            </a:r>
            <a:r>
              <a:rPr sz="1300">
                <a:solidFill>
                  <a:srgbClr val="E0E0E0"/>
                </a:solidFill>
              </a:rPr>
              <a:t>Unity Technologies. </a:t>
            </a:r>
            <a:r>
              <a:rPr sz="1300" i="1">
                <a:solidFill>
                  <a:srgbClr val="E0E0E0"/>
                </a:solidFill>
              </a:rPr>
              <a:t>Unity Documentation — Physics 2D. </a:t>
            </a:r>
            <a:r>
              <a:rPr sz="1300">
                <a:solidFill>
                  <a:srgbClr val="A0A0A0"/>
                </a:solidFill>
              </a:rPr>
              <a:t>Disponível em: https://docs.unity3d.com. Acesso em: jun.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